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8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Valores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7418112"/>
        <c:axId val="1197415392"/>
      </c:barChart>
      <c:catAx>
        <c:axId val="11974181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197415392"/>
        <c:crosses val="autoZero"/>
        <c:auto val="1"/>
        <c:lblAlgn val="ctr"/>
        <c:lblOffset val="100"/>
        <c:noMultiLvlLbl val="0"/>
      </c:catAx>
      <c:valAx>
        <c:axId val="11974153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9741811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DO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1"/>
  <c:style val="2"/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Datos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11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7420288"/>
        <c:axId val="1296742432"/>
      </c:lineChart>
      <c:catAx>
        <c:axId val="11974202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296742432"/>
        <c:crosses val="autoZero"/>
        <c:auto val="1"/>
        <c:lblAlgn val="ctr"/>
        <c:lblOffset val="100"/>
        <c:noMultiLvlLbl val="0"/>
      </c:catAx>
      <c:valAx>
        <c:axId val="12967424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9742028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s-DO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1"/>
  <c:style val="2"/>
  <c:chart>
    <c:title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26163847574608728"/>
          <c:y val="0.18398825146856643"/>
          <c:w val="0.67624744823563721"/>
          <c:h val="0.65767185351831026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Rojo</c:v>
                </c:pt>
                <c:pt idx="1">
                  <c:v>Azul</c:v>
                </c:pt>
                <c:pt idx="2">
                  <c:v>Verde</c:v>
                </c:pt>
                <c:pt idx="3">
                  <c:v>Amarillo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8</c:v>
                </c:pt>
                <c:pt idx="3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30227808"/>
        <c:axId val="1230233248"/>
      </c:barChart>
      <c:catAx>
        <c:axId val="1230227808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1230233248"/>
        <c:crosses val="autoZero"/>
        <c:auto val="1"/>
        <c:lblAlgn val="ctr"/>
        <c:lblOffset val="100"/>
        <c:noMultiLvlLbl val="0"/>
      </c:catAx>
      <c:valAx>
        <c:axId val="12302332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230227808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DO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c:style val="2"/>
  <c:chart>
    <c:title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Varianza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Conjunto 1</c:v>
                </c:pt>
                <c:pt idx="1">
                  <c:v>Conjunto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30229440"/>
        <c:axId val="1230237056"/>
      </c:areaChart>
      <c:catAx>
        <c:axId val="1230229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30237056"/>
        <c:crosses val="autoZero"/>
        <c:auto val="1"/>
        <c:lblAlgn val="ctr"/>
        <c:lblOffset val="100"/>
        <c:noMultiLvlLbl val="0"/>
      </c:catAx>
      <c:valAx>
        <c:axId val="12302370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30229440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s-DO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Desviación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Grupo 1</c:v>
                </c:pt>
                <c:pt idx="1">
                  <c:v>Grupo 2</c:v>
                </c:pt>
                <c:pt idx="2">
                  <c:v>Grupo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30235424"/>
        <c:axId val="1230239232"/>
      </c:barChart>
      <c:catAx>
        <c:axId val="12302354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230239232"/>
        <c:crosses val="autoZero"/>
        <c:auto val="1"/>
        <c:lblAlgn val="ctr"/>
        <c:lblOffset val="100"/>
        <c:noMultiLvlLbl val="0"/>
      </c:catAx>
      <c:valAx>
        <c:axId val="12302392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30235424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DO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1"/>
  <c:style val="2"/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P10</c:v>
                </c:pt>
                <c:pt idx="1">
                  <c:v>P25</c:v>
                </c:pt>
                <c:pt idx="2">
                  <c:v>P50</c:v>
                </c:pt>
                <c:pt idx="3">
                  <c:v>P75</c:v>
                </c:pt>
                <c:pt idx="4">
                  <c:v>P90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0226176"/>
        <c:axId val="1230237600"/>
      </c:lineChart>
      <c:catAx>
        <c:axId val="12302261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230237600"/>
        <c:crosses val="autoZero"/>
        <c:auto val="1"/>
        <c:lblAlgn val="ctr"/>
        <c:lblOffset val="100"/>
        <c:noMultiLvlLbl val="0"/>
      </c:catAx>
      <c:valAx>
        <c:axId val="12302376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3022617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s-DO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Ejemplo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Media</c:v>
                </c:pt>
                <c:pt idx="1">
                  <c:v>Mediana</c:v>
                </c:pt>
                <c:pt idx="2">
                  <c:v>Moda</c:v>
                </c:pt>
                <c:pt idx="3">
                  <c:v>Desviación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24</c:v>
                </c:pt>
                <c:pt idx="2">
                  <c:v>23</c:v>
                </c:pt>
                <c:pt idx="3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30231616"/>
        <c:axId val="1230230528"/>
      </c:barChart>
      <c:catAx>
        <c:axId val="123023161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230230528"/>
        <c:crosses val="autoZero"/>
        <c:auto val="1"/>
        <c:lblAlgn val="ctr"/>
        <c:lblOffset val="100"/>
        <c:noMultiLvlLbl val="0"/>
      </c:catAx>
      <c:valAx>
        <c:axId val="12302305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3023161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DO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23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21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8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8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05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23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59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66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8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7684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77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9129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02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98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02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6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  <p:sldLayoutId id="2147483810" r:id="rId15"/>
    <p:sldLayoutId id="21474838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Medidas de Tendencia y Dispersión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Elvis Rosado • Félix Miranda • Angello Rossi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200"/>
              </a:spcAft>
              <a:defRPr sz="1800"/>
            </a:pPr>
            <a:r>
              <a:t>Las medidas de tendencia y dispersión nos permiten resumir y analizar conjuntos de datos. Las primeras indican el valor representativo central, mientras que las segundas muestran cuánto varían los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(Elvis Rosado)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200"/>
              </a:spcAft>
              <a:defRPr sz="1800"/>
            </a:pPr>
            <a:r>
              <a:t>La media es el promedio aritmético. Se obtiene sumando todos los valores y dividiendo entre la cantidad de datos.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038071"/>
              </p:ext>
            </p:extLst>
          </p:nvPr>
        </p:nvGraphicFramePr>
        <p:xfrm>
          <a:off x="3984859" y="3356811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Mediana (Elvis Rosado)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200"/>
              </a:spcAft>
              <a:defRPr sz="1800"/>
            </a:pPr>
            <a:r>
              <a:t>La mediana es el valor central de un conjunto ordenado. Si hay un número par de datos, se promedia el par central.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707607"/>
              </p:ext>
            </p:extLst>
          </p:nvPr>
        </p:nvGraphicFramePr>
        <p:xfrm>
          <a:off x="4572000" y="2870736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Moda (Félix Miranda)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200"/>
              </a:spcAft>
              <a:defRPr sz="1800"/>
            </a:pPr>
            <a:r>
              <a:t>La moda es el valor que más se repite en el conjunto de datos. Puede haber una, varias o ninguna moda.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098925"/>
              </p:ext>
            </p:extLst>
          </p:nvPr>
        </p:nvGraphicFramePr>
        <p:xfrm>
          <a:off x="4485372" y="297180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Rango y Varianza (Félix Miranda)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200"/>
              </a:spcAft>
              <a:defRPr sz="1800"/>
            </a:pPr>
            <a:r>
              <a:t>El rango mide la diferencia entre el valor máximo y mínimo. La varianza muestra cuánto se alejan los datos de la media.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630512"/>
              </p:ext>
            </p:extLst>
          </p:nvPr>
        </p:nvGraphicFramePr>
        <p:xfrm>
          <a:off x="4437246" y="3171524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Desviación Estándar (Félix Miranda)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200"/>
              </a:spcAft>
              <a:defRPr sz="1800"/>
            </a:pPr>
            <a:r>
              <a:t>La desviación estándar indica la dispersión promedio de los datos respecto a la media. Cuanto mayor, más dispersos están los datos.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97627"/>
              </p:ext>
            </p:extLst>
          </p:nvPr>
        </p:nvGraphicFramePr>
        <p:xfrm>
          <a:off x="4350619" y="3152273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Percentiles (Angello Rossi)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200"/>
              </a:spcAft>
              <a:defRPr sz="1800"/>
            </a:pPr>
            <a:r>
              <a:t>Dividen el conjunto de datos en 100 partes iguales. El percentil 50 corresponde a la mediana.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366567"/>
              </p:ext>
            </p:extLst>
          </p:nvPr>
        </p:nvGraphicFramePr>
        <p:xfrm>
          <a:off x="4321743" y="297180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Comparación General (Angello Rossi)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200"/>
              </a:spcAft>
              <a:defRPr sz="1800"/>
            </a:pPr>
            <a:r>
              <a:t>En conjunto, las medidas de tendencia central y dispersión nos permiten entender tanto el valor típico como la variabilidad de los datos.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861199"/>
              </p:ext>
            </p:extLst>
          </p:nvPr>
        </p:nvGraphicFramePr>
        <p:xfrm>
          <a:off x="4427622" y="3190775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 (Angello Rossi)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200"/>
              </a:spcAft>
              <a:defRPr sz="1800"/>
            </a:pPr>
            <a:r>
              <a:t>Las medidas de tendencia central y dispersión son herramientas fundamentales en la estadística descriptiva. Nos ayudan a interpretar datos, detectar patrones y tomar decisiones basadas en evidencia.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288</Words>
  <Application>Microsoft Office PowerPoint</Application>
  <PresentationFormat>Presentación en pantalla (4:3)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</vt:lpstr>
      <vt:lpstr>Medidas de Tendencia y Dispersión</vt:lpstr>
      <vt:lpstr>Introducción</vt:lpstr>
      <vt:lpstr>Media (Elvis Rosado)</vt:lpstr>
      <vt:lpstr>Mediana (Elvis Rosado)</vt:lpstr>
      <vt:lpstr>Moda (Félix Miranda)</vt:lpstr>
      <vt:lpstr>Rango y Varianza (Félix Miranda)</vt:lpstr>
      <vt:lpstr>Desviación Estándar (Félix Miranda)</vt:lpstr>
      <vt:lpstr>Percentiles (Angello Rossi)</vt:lpstr>
      <vt:lpstr>Comparación General (Angello Rossi)</vt:lpstr>
      <vt:lpstr>Conclusión (Angello Rossi)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Medidas de Tendencia y Dispersión</dc:title>
  <dc:subject/>
  <dc:creator>ELVIS ROSADO</dc:creator>
  <cp:keywords/>
  <dc:description>generated using python-pptx</dc:description>
  <cp:lastModifiedBy>Cuenta Microsoft</cp:lastModifiedBy>
  <cp:revision>2</cp:revision>
  <dcterms:created xsi:type="dcterms:W3CDTF">2013-01-27T09:14:16Z</dcterms:created>
  <dcterms:modified xsi:type="dcterms:W3CDTF">2025-10-07T18:52:17Z</dcterms:modified>
  <cp:category/>
</cp:coreProperties>
</file>